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</c:v>
                </c:pt>
              </c:strCache>
            </c:strRef>
          </c:tx>
          <c:spPr>
            <a:solidFill>
              <a:srgbClr val="1E20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20632</c:v>
                </c:pt>
                <c:pt idx="1">
                  <c:v>19772</c:v>
                </c:pt>
                <c:pt idx="2">
                  <c:v>11749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53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1594</c:v>
                </c:pt>
                <c:pt idx="1">
                  <c:v>4970</c:v>
                </c:pt>
                <c:pt idx="2">
                  <c:v>3549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Destino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23B"/>
              </a:solidFill>
              <a:effectLst/>
            </c:spPr>
          </c:dPt>
          <c:dPt>
            <c:idx val="1"/>
            <c:bubble3D val="0"/>
            <c:spPr>
              <a:solidFill>
                <a:srgbClr val="1E202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Reestructuración de pasivos</c:v>
                </c:pt>
                <c:pt idx="1">
                  <c:v>Capital operativo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88</c:v>
                </c:pt>
                <c:pt idx="1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Aviso: los puntos de venta de la red de marca pertenecen a sociedades jurídicamente independientes (no consolidan con la emisora ni aportan flujos, según el prospecto). Redacción sujeta a validación de la casa de bolsa y asesoría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katue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403799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logo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4360"/>
            <a:ext cx="3763670" cy="6400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institucional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214884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que mantienen al país en movimiento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 Tavares Sociedad Anónima Emisora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Canindeyú · Paraguay · 2026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120640" y="342900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5323B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34924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Bonos · Gs. 15.000 millones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kat_sig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" y="4343400"/>
            <a:ext cx="237744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27432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Katueté · Ruta PY 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Quiénes somos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10058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paraguaya especializada en repuestos, partes y accesorios para camiones, tractocamiones, remolques y maquinaria agrícola, con taller propio de mecánica pesada, tornería, chapería y pintura. Cuenta con dos unidades propias, la casa matriz de Katueté y la sucursal de Campo 9, y opera bajo la marca Tavares Group.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06240" y="251460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F3F4F5"/>
          </a:solidFill>
          <a:ln/>
        </p:spPr>
      </p:sp>
      <p:sp>
        <p:nvSpPr>
          <p:cNvPr id="8" name="Shape 5"/>
          <p:cNvSpPr/>
          <p:nvPr/>
        </p:nvSpPr>
        <p:spPr>
          <a:xfrm>
            <a:off x="4389120" y="2788920"/>
            <a:ext cx="411480" cy="4114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83480" y="2606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983480" y="28346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Proveer repuestos, componentes y servicios técnicos para mantener operativos los vehículos y equipos de nuestros clientes.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06240" y="361188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F3F4F5"/>
          </a:solidFill>
          <a:ln/>
        </p:spPr>
      </p:sp>
      <p:sp>
        <p:nvSpPr>
          <p:cNvPr id="12" name="Shape 9"/>
          <p:cNvSpPr/>
          <p:nvPr/>
        </p:nvSpPr>
        <p:spPr>
          <a:xfrm>
            <a:off x="4389120" y="3886200"/>
            <a:ext cx="411480" cy="411480"/>
          </a:xfrm>
          <a:prstGeom prst="ellipse">
            <a:avLst/>
          </a:prstGeom>
          <a:solidFill>
            <a:srgbClr val="1E202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83480" y="3703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39319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referente en Paraguay en soluciones técnicas para el transporte pesado y el agro.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206240" y="48006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hier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57200"/>
            <a:ext cx="3291840" cy="3566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3657600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9436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 original del negocio · años 90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A3D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“Del hierro viejo a una red de repuestos”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 trayectoria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617720" y="1234440"/>
            <a:ext cx="0" cy="3291840"/>
          </a:xfrm>
          <a:prstGeom prst="line">
            <a:avLst/>
          </a:prstGeom>
          <a:noFill/>
          <a:ln w="19050">
            <a:solidFill>
              <a:srgbClr val="C4C6C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07992" y="1225296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92040" y="109728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0972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Tavares dos Santos inicia la recuperación y venta de piezas para transporte pesado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07992" y="1801368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92040" y="167335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16733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constituye la sociedad (Rey de los Bulones S.A.)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07992" y="2377440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224942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22494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 el nombre Repuestos Tavares S.A. y consolida la unidad de Katueté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07992" y="2953512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282549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28254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 los camiones de competición “La Bestia” y “La Furia”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07992" y="3529584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340156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715000" y="34015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unidad de Campo 9, sobre la Ruta PY 02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507992" y="4105656"/>
            <a:ext cx="219456" cy="219456"/>
          </a:xfrm>
          <a:prstGeom prst="ellipse">
            <a:avLst/>
          </a:prstGeom>
          <a:solidFill>
            <a:srgbClr val="E5323B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92040" y="397764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adecúa a la Ley 7572/2025: Sociedad Anónima Emisora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Productos y servicios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transporte pesado y el agro necesitan, en un solo lugar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459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nuevos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476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transmisión, cabina y carrocería, frenos y sistema eléctrico. Fuerte especialización en Scania.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10" name="Shape 8"/>
          <p:cNvSpPr/>
          <p:nvPr/>
        </p:nvSpPr>
        <p:spPr>
          <a:xfrm>
            <a:off x="4892040" y="16459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Piezas reconstruidas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19476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Cabinas, motores, cajas y diferenciales recuperados: el origen histórico de la firma.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2461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Vehículos y carretas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Camiones y tractocamiones usados; acoplados y semirremolques nuevos y usados.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32461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Servicios de taller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pesada, tornería, chapería y pintura: vendemos el repuesto y lo colocamos.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Presencia y clientes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unidades propias sobre los ejes logísticos de la principal zona agroproductiva</a:t>
            </a:r>
            <a:endParaRPr lang="en-US" sz="1200" dirty="0"/>
          </a:p>
        </p:txBody>
      </p:sp>
      <p:pic>
        <p:nvPicPr>
          <p:cNvPr id="4" name="Image 0" descr="use/katue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2514600" cy="1783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27432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Casa matriz</a:t>
            </a:r>
            <a:endParaRPr lang="en-US" sz="1000" dirty="0"/>
          </a:p>
        </p:txBody>
      </p:sp>
      <p:pic>
        <p:nvPicPr>
          <p:cNvPr id="7" name="Image 1" descr="use/campo9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63240" y="1280160"/>
            <a:ext cx="2514600" cy="1783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172968" y="2743200"/>
            <a:ext cx="164592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3172968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9 · Sucursal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324612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3F4F5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33375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MARCA TAVARES GROUP EN EL PAÍS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40080" y="361188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C6C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61188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Alberto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1783080" y="361188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C6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783080" y="3611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Curuguaty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834640" y="361188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C6C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834640" y="36118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Rita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840480" y="3611880"/>
            <a:ext cx="15544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C6C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840480" y="3611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Mariano Roque Alonso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40080" y="393192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C6C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3931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Loma Plata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828800" y="391363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venta que comparten la marca, operados por sociedades independientes. No son sucursales ni filiales de la emisora ni forman parte de esta emisión.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5852160" y="1280160"/>
            <a:ext cx="2834640" cy="749808"/>
          </a:xfrm>
          <a:prstGeom prst="roundRect">
            <a:avLst>
              <a:gd name="adj" fmla="val 9756"/>
            </a:avLst>
          </a:prstGeom>
          <a:solidFill>
            <a:srgbClr val="F3F4F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989320" y="1280160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3.259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7132320" y="128016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atendidos entre 2023 y 2025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852160" y="2130552"/>
            <a:ext cx="2834640" cy="749808"/>
          </a:xfrm>
          <a:prstGeom prst="roundRect">
            <a:avLst>
              <a:gd name="adj" fmla="val 9756"/>
            </a:avLst>
          </a:prstGeom>
          <a:solidFill>
            <a:srgbClr val="F3F4F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989320" y="2130552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3,3%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7132320" y="2130552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del mayor cliente: cartera atomizada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852160" y="2980944"/>
            <a:ext cx="2834640" cy="749808"/>
          </a:xfrm>
          <a:prstGeom prst="roundRect">
            <a:avLst>
              <a:gd name="adj" fmla="val 9756"/>
            </a:avLst>
          </a:prstGeom>
          <a:solidFill>
            <a:srgbClr val="F3F4F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989320" y="2980944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583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7132320" y="2980944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en 2025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5852160" y="3831336"/>
            <a:ext cx="2834640" cy="749808"/>
          </a:xfrm>
          <a:prstGeom prst="roundRect">
            <a:avLst>
              <a:gd name="adj" fmla="val 9756"/>
            </a:avLst>
          </a:prstGeom>
          <a:solidFill>
            <a:srgbClr val="F3F4F5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989320" y="3831336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57,8%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7132320" y="3831336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inventario en repuestos Scania</a:t>
            </a:r>
            <a:endParaRPr 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Desempeño y calificación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millones de guaraníes · Fuente: Feller Rate, septiembre 2026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325880"/>
            <a:ext cx="2834640" cy="1371600"/>
          </a:xfrm>
          <a:prstGeom prst="roundRect">
            <a:avLst>
              <a:gd name="adj" fmla="val 6667"/>
            </a:avLst>
          </a:prstGeom>
          <a:solidFill>
            <a:srgbClr val="1E20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3504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 RIESGO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691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BBB-py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Feller Rate · Tendencia estable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8803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30,2%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8803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Ebitda, jun. 2026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34472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+12,9%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4472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vs. igual período 2025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401421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2,1x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401421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financiera / Ebitda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 de Bonos G1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 · Características principales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DEL PROGRAMA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15.000.000.000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71800" y="13716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54680" y="13716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en una o más series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359152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915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a 3.650 días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71800" y="2359152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235915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MÍNIMO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1.000.000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346704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46704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Común, a sola firma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71800" y="3346704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54680" y="3346704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Valores del Paraguay (CAVAPY)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325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 DE LOS FONDOS</a:t>
            </a:r>
            <a:endParaRPr lang="en-US" sz="10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577840" y="1554480"/>
          <a:ext cx="31089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669280" y="3794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88%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reestructuración de pasivos de corto plazo (Gs. 13.200 M)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12%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operativo (Gs. 1.800 M)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389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 de obligacionistas: Mersan Abogados SRL · Agente organizador: National Consultant S.A.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E5323B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057400"/>
            <a:ext cx="29626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pic>
        <p:nvPicPr>
          <p:cNvPr id="4" name="Image 0" descr="logo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94560"/>
            <a:ext cx="2688336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749040" y="548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Conversemos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71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KATUETÉ (CASA MATRIZ)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5727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03 km 355, Katueté – Canindeyú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0986 730 782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49040" y="214884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CAMPO 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3500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Asunción Flores 661, Caaguazú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0983 510 885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926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1272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financiero@tavaresgroup.com.py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comercial@tavaresgroup.com.py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7033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RUC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90448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tavaresgroup.com.py · 80052858-1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490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invertir, informese cabalmente sobre la situación de la sociedad emisora. La inscripción no implica juicio de valor de la SIV sobre la emisión.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Institucional – Repuestos Tavares S.A.E.</dc:title>
  <dc:subject>PptxGenJS Presentation</dc:subject>
  <dc:creator>PptxGenJS</dc:creator>
  <cp:lastModifiedBy>PptxGenJS</cp:lastModifiedBy>
  <cp:revision>1</cp:revision>
  <dcterms:created xsi:type="dcterms:W3CDTF">2026-09-29T13:41:19Z</dcterms:created>
  <dcterms:modified xsi:type="dcterms:W3CDTF">2026-09-29T13:41:19Z</dcterms:modified>
</cp:coreProperties>
</file>