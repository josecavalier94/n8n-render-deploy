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Ingresos</c:v>
                </c:pt>
              </c:strCache>
            </c:strRef>
          </c:tx>
          <c:spPr>
            <a:solidFill>
              <a:srgbClr val="1E202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20632</c:v>
                </c:pt>
                <c:pt idx="1">
                  <c:v>19772</c:v>
                </c:pt>
                <c:pt idx="2">
                  <c:v>11749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E53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2024</c:v>
                  </c:pt>
                  <c:pt idx="1">
                    <c:v>2025</c:v>
                  </c:pt>
                  <c:pt idx="2">
                    <c:v>Jun.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1594</c:v>
                </c:pt>
                <c:pt idx="1">
                  <c:v>4970</c:v>
                </c:pt>
                <c:pt idx="2">
                  <c:v>3549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Destino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5323B"/>
              </a:solidFill>
              <a:effectLst/>
            </c:spPr>
          </c:dPt>
          <c:dPt>
            <c:idx val="1"/>
            <c:bubble3D val="0"/>
            <c:spPr>
              <a:solidFill>
                <a:srgbClr val="1E2023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Reestructuración de pasivos</c:v>
                </c:pt>
                <c:pt idx="1">
                  <c:v>Capital operativo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88</c:v>
                </c:pt>
                <c:pt idx="1">
                  <c:v>12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ue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457200"/>
            <a:ext cx="403799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pic>
        <p:nvPicPr>
          <p:cNvPr id="4" name="Image 1" descr="logo_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594360"/>
            <a:ext cx="3763670" cy="6400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institucional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457200" y="214884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que mantienen al país en movimiento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114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Repuestos Tavares Sociedad Anónima Emisora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4389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 · Canindeyú · Paraguay · 2026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120640" y="342900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E5323B"/>
          </a:solidFill>
          <a:ln/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34924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3794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Bonos · Gs. 15.000 millones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kat_sig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74904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4320" y="4343400"/>
            <a:ext cx="237744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274320" y="4343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Katueté · Ruta PY 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Quiénes somos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1005840"/>
            <a:ext cx="4480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 paraguaya especializada en repuestos, partes y accesorios para camiones, tractocamiones, remolques y maquinaria agrícola, con taller propio de mecánica pesada, tornería, chapería y pintura. Opera bajo la marca Tavares Group.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206240" y="251460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8" name="Shape 5"/>
          <p:cNvSpPr/>
          <p:nvPr/>
        </p:nvSpPr>
        <p:spPr>
          <a:xfrm>
            <a:off x="4389120" y="2788920"/>
            <a:ext cx="411480" cy="4114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83480" y="260604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MISIÓN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983480" y="2834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Proveer repuestos, componentes y servicios técnicos para mantener operativos los vehículos y equipos de nuestros clientes.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06240" y="3611880"/>
            <a:ext cx="4480560" cy="960120"/>
          </a:xfrm>
          <a:prstGeom prst="roundRect">
            <a:avLst>
              <a:gd name="adj" fmla="val 7619"/>
            </a:avLst>
          </a:prstGeom>
          <a:solidFill>
            <a:srgbClr val="F3F4F5"/>
          </a:solidFill>
          <a:ln/>
        </p:spPr>
      </p:sp>
      <p:sp>
        <p:nvSpPr>
          <p:cNvPr id="12" name="Shape 9"/>
          <p:cNvSpPr/>
          <p:nvPr/>
        </p:nvSpPr>
        <p:spPr>
          <a:xfrm>
            <a:off x="4389120" y="3886200"/>
            <a:ext cx="411480" cy="411480"/>
          </a:xfrm>
          <a:prstGeom prst="ellipse">
            <a:avLst/>
          </a:prstGeom>
          <a:solidFill>
            <a:srgbClr val="1E202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83480" y="37033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393192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referente en Paraguay en soluciones técnicas para el transporte pesado y el agro.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206240" y="480060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se/hier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457200"/>
            <a:ext cx="3291840" cy="35661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4360" y="3657600"/>
            <a:ext cx="301752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94360" y="3657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 original del negocio · años 90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A3D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“Del hierro viejo a una red de repuestos”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trayectoria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617720" y="1234440"/>
            <a:ext cx="0" cy="3017520"/>
          </a:xfrm>
          <a:prstGeom prst="line">
            <a:avLst/>
          </a:prstGeom>
          <a:noFill/>
          <a:ln w="19050">
            <a:solidFill>
              <a:srgbClr val="C4C6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07992" y="1316736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92040" y="1188720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1996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5715000" y="1188720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 Tavares dos Santos inicia la recuperación y venta de piezas para transporte pesado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507992" y="1975104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92040" y="1847088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184708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constituye la sociedad (Rey de los Bulones S.A.)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07992" y="2633472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892040" y="2505456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2012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5715000" y="2505456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Adopta el nombre Repuestos Tavares S.A. y consolida la unidad de Katueté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07992" y="3291840"/>
            <a:ext cx="219456" cy="219456"/>
          </a:xfrm>
          <a:prstGeom prst="ellipse">
            <a:avLst/>
          </a:prstGeom>
          <a:solidFill>
            <a:srgbClr val="1E2023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892040" y="3163824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715000" y="3163824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 los camiones de competición “La Bestia” y “La Furia”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07992" y="3950208"/>
            <a:ext cx="219456" cy="219456"/>
          </a:xfrm>
          <a:prstGeom prst="ellipse">
            <a:avLst/>
          </a:prstGeom>
          <a:solidFill>
            <a:srgbClr val="E5323B"/>
          </a:solidFill>
          <a:ln w="25400">
            <a:solidFill>
              <a:srgbClr val="F3F4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92040" y="3822192"/>
            <a:ext cx="822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715000" y="3822192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adecúa a la Ley 7572/2025: Sociedad Anónima Emisora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Productos y servicios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B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el transporte pesado y el agro necesitan, en un solo lugar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Repuestos nuevos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Motor, transmisión, cabina y carrocería, frenos y sistema eléctrico. Fuerte especialización en Scania.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0" name="Shape 8"/>
          <p:cNvSpPr/>
          <p:nvPr/>
        </p:nvSpPr>
        <p:spPr>
          <a:xfrm>
            <a:off x="4892040" y="16459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Piezas reconstruidas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715000" y="19476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Cabinas, motores, cajas y diferenciales recuperados: el origen histórico de la firma.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Vehículos y carretas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Camiones y tractocamiones usados; acoplados y semirremolques nuevos y usados.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017520"/>
            <a:ext cx="4023360" cy="1417320"/>
          </a:xfrm>
          <a:prstGeom prst="roundRect">
            <a:avLst>
              <a:gd name="adj" fmla="val 6452"/>
            </a:avLst>
          </a:prstGeom>
          <a:solidFill>
            <a:srgbClr val="3A3D41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2040" y="3246120"/>
            <a:ext cx="640080" cy="640080"/>
          </a:xfrm>
          <a:prstGeom prst="ellipse">
            <a:avLst/>
          </a:prstGeom>
          <a:solidFill>
            <a:srgbClr val="E5323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3246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3200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Servicios de taller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715000" y="3547872"/>
            <a:ext cx="2788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5D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 pesada, tornería, chapería y pintura: vendemos el repuesto y lo colocamos.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Nuestra unidad en Katueté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Ruta PY 03, en el corazón de la zona agroproductiva de Canindeyú</a:t>
            </a:r>
            <a:endParaRPr lang="en-US" sz="1200" dirty="0"/>
          </a:p>
        </p:txBody>
      </p:sp>
      <p:pic>
        <p:nvPicPr>
          <p:cNvPr id="4" name="Image 0" descr="use/kat_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4846320" cy="21031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3063240"/>
            <a:ext cx="2377440" cy="274320"/>
          </a:xfrm>
          <a:prstGeom prst="roundRect">
            <a:avLst>
              <a:gd name="adj" fmla="val 16667"/>
            </a:avLst>
          </a:prstGeom>
          <a:solidFill>
            <a:srgbClr val="1E2023">
              <a:alpha val="85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94360" y="3063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Katueté · Canindeyú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532120" y="1325880"/>
            <a:ext cx="3154680" cy="2103120"/>
          </a:xfrm>
          <a:prstGeom prst="roundRect">
            <a:avLst>
              <a:gd name="adj" fmla="val 4348"/>
            </a:avLst>
          </a:prstGeom>
          <a:solidFill>
            <a:srgbClr val="1E202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760720" y="1463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1737360"/>
            <a:ext cx="2743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PY 03, km 355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Katueté, Canindeyú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05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del productor y del transportista: disponibilidad inmediata de repuestos y servicio de taller.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3.259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 atendidos entre 2023 y 2025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578608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15768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3,3%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715768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del mayor cliente: cartera atomizada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700016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37176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583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837176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proveedores en 2025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821424" y="36118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3F4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958584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57,8%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6958584" y="4160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A3D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inventario en repuestos Scania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Desempeño y calificación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en millones de guaraníes · Fuente: Feller Rate, septiembre 2026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852160" y="1325880"/>
            <a:ext cx="2834640" cy="1371600"/>
          </a:xfrm>
          <a:prstGeom prst="roundRect">
            <a:avLst>
              <a:gd name="adj" fmla="val 6667"/>
            </a:avLst>
          </a:prstGeom>
          <a:solidFill>
            <a:srgbClr val="1E202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35040" y="14173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 RIESGO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1691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BBB-py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331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C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Feller Rate · Tendencia estable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288036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30,2%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8803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Ebitda, jun. 2026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344728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+12,9%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040880" y="344728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vs. igual período 2025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852160" y="4014216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5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2,1x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040880" y="401421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Deuda financiera / Ebitda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0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 de Bonos G1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de Emisión Global · Características principales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DEL PROGRAMA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15.000.000.000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971800" y="1371600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54680" y="137160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Bonos en una o más series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365 a 3.650 días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71800" y="2359152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54680" y="2359152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MÍNIMO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Gs. 1.000.000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Común, a sola firma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971800" y="3346704"/>
            <a:ext cx="2377440" cy="868680"/>
          </a:xfrm>
          <a:prstGeom prst="roundRect">
            <a:avLst>
              <a:gd name="adj" fmla="val 8421"/>
            </a:avLst>
          </a:prstGeom>
          <a:solidFill>
            <a:srgbClr val="F3F4F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154680" y="3346704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de Valores del Paraguay (CAVAPY)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0" y="13258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 DE LOS FONDOS</a:t>
            </a:r>
            <a:endParaRPr lang="en-US" sz="10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5577840" y="1554480"/>
          <a:ext cx="31089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5669280" y="3794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88%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reestructuración de pasivos de corto plazo (Gs. 13.200 M)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12% </a:t>
            </a:r>
            <a:pPr indent="0" marL="0">
              <a:buNone/>
            </a:pPr>
            <a:r>
              <a:rPr lang="en-US" sz="1050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operativo (Gs. 1.800 M)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3891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Representante de obligacionistas: Mersan Abogados SRL · Agente organizador: National Consultant S.A.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D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de vista previa · Sujeto a registro ante la Superintendencia de Valores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8138160" y="48006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E20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0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E5323B"/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057400"/>
            <a:ext cx="2962656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pic>
        <p:nvPicPr>
          <p:cNvPr id="4" name="Image 0" descr="logo_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194560"/>
            <a:ext cx="2688336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49040" y="5486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Conversemos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5544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KATUETÉ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7556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03 km 355, Katueté – Canindeyú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Tel. 0986 730 782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749040" y="24688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6700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financiero@tavaresgroup.com.py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comercial@tavaresgroup.com.py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33832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E5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RUC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3749040" y="358444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tavaresgroup.com.py · 80052858-1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4572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D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invertir, informese cabalmente sobre la situación de la sociedad emisora. La inscripción no implica juicio de valor de la SIV sobre la emisión.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Institucional – Repuestos Tavares S.A.E.</dc:title>
  <dc:subject>PptxGenJS Presentation</dc:subject>
  <dc:creator>PptxGenJS</dc:creator>
  <cp:lastModifiedBy>PptxGenJS</cp:lastModifiedBy>
  <cp:revision>1</cp:revision>
  <dcterms:created xsi:type="dcterms:W3CDTF">2026-09-29T13:12:36Z</dcterms:created>
  <dcterms:modified xsi:type="dcterms:W3CDTF">2026-09-29T13:12:36Z</dcterms:modified>
</cp:coreProperties>
</file>